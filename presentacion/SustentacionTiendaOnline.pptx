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1e2e05c0-6238-c55e-62da-c6cc2b3f405b}">
          <p14:sldIdLst>
            <p14:sldId id="256"/>
            <p14:sldId id="257"/>
          </p14:sldIdLst>
        </p14:section>
        <p14:section name="Modelo relacional" id="{21aca2bd-ea91-2775-175b-4a7b6f93ae5f}">
          <p14:sldIdLst>
            <p14:sldId id="258"/>
            <p14:sldId id="259"/>
            <p14:sldId id="260"/>
          </p14:sldIdLst>
        </p14:section>
        <p14:section name="Modelo documental" id="{895e6074-fbca-1bd4-c1f2-954af9427111}">
          <p14:sldIdLst>
            <p14:sldId id="261"/>
            <p14:sldId id="262"/>
            <p14:sldId id="263"/>
            <p14:sldId id="264"/>
          </p14:sldIdLst>
        </p14:section>
        <p14:section name="Migración y verificación" id="{b89ded79-15ee-73e6-3c60-c37e314015dc}">
          <p14:sldIdLst>
            <p14:sldId id="265"/>
            <p14:sldId id="266"/>
            <p14:sldId id="267"/>
            <p14:sldId id="268"/>
          </p14:sldIdLst>
        </p14:section>
        <p14:section name="Consultas" id="{558f82e6-cf32-e790-a5cd-b199d1562a3f}">
          <p14:sldIdLst>
            <p14:sldId id="269"/>
            <p14:sldId id="270"/>
            <p14:sldId id="271"/>
            <p14:sldId id="272"/>
          </p14:sldIdLst>
        </p14:section>
        <p14:section name="Cierre" id="{ae857520-cb4b-df75-0c84-37c47041ceb2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ingresos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Tecnología</c:v>
                  </c:pt>
                  <c:pt idx="1">
                    <c:v>Deportes</c:v>
                  </c:pt>
                  <c:pt idx="2">
                    <c:v>Hogar</c:v>
                  </c:pt>
                  <c:pt idx="3">
                    <c:v>Herramientas</c:v>
                  </c:pt>
                  <c:pt idx="4">
                    <c:v>Otras 6 categorías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40.06</c:v>
                </c:pt>
                <c:pt idx="1">
                  <c:v>14.16</c:v>
                </c:pt>
                <c:pt idx="2">
                  <c:v>10.74</c:v>
                </c:pt>
                <c:pt idx="3">
                  <c:v>7.9</c:v>
                </c:pt>
                <c:pt idx="4">
                  <c:v>27.14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Camilo. Saludo y caso: una tienda en línea colombiana. Objetivo: diseñar la base relacional, migrarla a MongoDB aplicando Embedding y Referencing, demostrar que no se perdió información y responder preguntas de negocio con Aggregation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Camilo. Recorrido rápido por los números y el flujo del proyecto: de SQL Server, con Python, a MongoDB; luego verificamos y consultamos.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Camilo. Catálogos con pocos registros, transacciones con miles: distribución realista. Decisiones: el precio unitario se copia porque el precio del producto cambia; DetallePedido usa PK compuesta; la FK compuesta impide enviar un pedido a la dirección de otro cliente; el total se guarda a propósito para reportes y para verificar la migración.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Camilo. Los datos no son al azar real: son reproducibles, así Marshall y yo tenemos la misma base. Se cargaron en bloque y luego se comprobó que cumplen las reglas: envío solo si se despachó, total igual a la suma de los detalles, reseñas solo de productos recibidos.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Camilo. Cinco tablas forman un solo documento de pedido. El _id de cada documento es el mismo id de SQL Server, para poder verificar registro a registro.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Camilo. Analogía: la factura trae impresas sus líneas de compra (embebido) y del cliente solo la cédula (referencia). No embebemos los pedidos en el cliente porque crecerían sin límite. Las reseñas van aparte porque pertenecen a producto y cliente a la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Juan Camilo. Pedido 150 real, consultado en mongosh. La dirección es la oficina del cliente 196 (id 849) y coincide con la que tiene embebida el cliente: prueba de la copia histórica.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Marshall. ETL: extraer, transformar, cargar. Para no hacer una consulta por cada pedido (problema N+1) leemos cada tabla una vez y agrupamos en memoria. pymongo no acepta Decimal ni date de Python, por eso se convierten. La migración se puede repetir sin duplicar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Marshall. No basta con que la migración no dé error. Contamos los elementos embebidos para comprobar que las tablas unidas no perdieron filas, revisamos referencias, comparamos pedido por pedido, sumas de dinero y 22 pedidos campo a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Marshall. Como una alarma de humo: le acercamos humo a propósito. Al quitar un producto del pedido 150, fallaron conteos, estructuras, contenido y puntuales. Volvimos a migrar y regresó a 25 de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Marshall. Cada consulta responde una pregunta real y apoya una decisión. Se usan $match, $project, $group, $sort, $limit, $unwind y $lookup, con varios $lookup en cadena en las consultas 1, 2 y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Marshall. Consulta 2. El porcentaje se calcula agregando a cada categoría el total general con $setWindowFields. Decisión: Tecnología no puede fallar, pero conviene diversificar.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Marshall. Cruzar consultas muestra el negocio: el peor proveedor surte una categoría clave; la recencia identifica clientes en riesgo; el cuello de botella logístico es interno; y la diferencia de Nequi debe confirmarse estadísticamente.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Presentan ambos. Una conclusión cada uno y abrimos preguntas. Repositorio: enlace de GitHub entregado en el Campus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C7C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Taller 3 · Bases de Datos II · Tienda en línea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C7C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C7C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Migración de una tienda en línea de SQL Server a MongoDB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Taller Evaluativo No. 3 · Bases de Datos II · Prof. Juan Carlos Gómez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Juan Camilo · Marshall Robinson</a:t>
            </a:r>
            <a:endParaRPr lang="en-US" sz="1600" dirty="0"/>
          </a:p>
        </p:txBody>
      </p:sp>
      <p:sp>
        <p:nvSpPr>
          <p:cNvPr id="4" name="chip-sql"/>
          <p:cNvSpPr txBox="1"/>
          <p:nvPr/>
        </p:nvSpPr>
        <p:spPr>
          <a:xfrm>
            <a:off x="548640" y="3977640"/>
            <a:ext cx="18288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SQL Server</a:t>
            </a:r>
            <a:endParaRPr lang="en-US" sz="1600" dirty="0"/>
          </a:p>
        </p:txBody>
      </p:sp>
      <p:sp>
        <p:nvSpPr>
          <p:cNvPr id="5" name="flecha-portada"/>
          <p:cNvSpPr/>
          <p:nvPr/>
        </p:nvSpPr>
        <p:spPr>
          <a:xfrm>
            <a:off x="2514600" y="4087368"/>
            <a:ext cx="822960" cy="292608"/>
          </a:xfrm>
          <a:prstGeom prst="rightArrow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hip-mongo"/>
          <p:cNvSpPr txBox="1"/>
          <p:nvPr/>
        </p:nvSpPr>
        <p:spPr>
          <a:xfrm>
            <a:off x="3474720" y="3977640"/>
            <a:ext cx="182880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MongoDB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proyecto en cifras</a:t>
            </a:r>
            <a:endParaRPr lang="en-US" sz="2800" dirty="0"/>
          </a:p>
        </p:txBody>
      </p:sp>
      <p:sp>
        <p:nvSpPr>
          <p:cNvPr id="3" name="stat-0"/>
          <p:cNvSpPr/>
          <p:nvPr/>
        </p:nvSpPr>
        <p:spPr>
          <a:xfrm>
            <a:off x="457200" y="1234440"/>
            <a:ext cx="1499616" cy="16002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at-num-0"/>
          <p:cNvSpPr txBox="1"/>
          <p:nvPr/>
        </p:nvSpPr>
        <p:spPr>
          <a:xfrm>
            <a:off x="548640" y="141732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stat-lbl-0"/>
          <p:cNvSpPr txBox="1"/>
          <p:nvPr/>
        </p:nvSpPr>
        <p:spPr>
          <a:xfrm>
            <a:off x="548640" y="21031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tablas en SQL Server</a:t>
            </a:r>
            <a:endParaRPr lang="en-US" sz="1300" dirty="0"/>
          </a:p>
        </p:txBody>
      </p:sp>
      <p:sp>
        <p:nvSpPr>
          <p:cNvPr id="6" name="stat-1"/>
          <p:cNvSpPr/>
          <p:nvPr/>
        </p:nvSpPr>
        <p:spPr>
          <a:xfrm>
            <a:off x="2139696" y="1234440"/>
            <a:ext cx="1499616" cy="16002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tat-num-1"/>
          <p:cNvSpPr txBox="1"/>
          <p:nvPr/>
        </p:nvSpPr>
        <p:spPr>
          <a:xfrm>
            <a:off x="2231136" y="141732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14.595</a:t>
            </a:r>
            <a:endParaRPr lang="en-US" sz="2800" dirty="0"/>
          </a:p>
        </p:txBody>
      </p:sp>
      <p:sp>
        <p:nvSpPr>
          <p:cNvPr id="8" name="stat-lbl-1"/>
          <p:cNvSpPr txBox="1"/>
          <p:nvPr/>
        </p:nvSpPr>
        <p:spPr>
          <a:xfrm>
            <a:off x="2231136" y="21031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registros coherentes</a:t>
            </a:r>
            <a:endParaRPr lang="en-US" sz="1300" dirty="0"/>
          </a:p>
        </p:txBody>
      </p:sp>
      <p:sp>
        <p:nvSpPr>
          <p:cNvPr id="9" name="stat-2"/>
          <p:cNvSpPr/>
          <p:nvPr/>
        </p:nvSpPr>
        <p:spPr>
          <a:xfrm>
            <a:off x="3822192" y="1234440"/>
            <a:ext cx="1499616" cy="16002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tat-num-2"/>
          <p:cNvSpPr txBox="1"/>
          <p:nvPr/>
        </p:nvSpPr>
        <p:spPr>
          <a:xfrm>
            <a:off x="3913632" y="141732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1" name="stat-lbl-2"/>
          <p:cNvSpPr txBox="1"/>
          <p:nvPr/>
        </p:nvSpPr>
        <p:spPr>
          <a:xfrm>
            <a:off x="3913632" y="21031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colecciones en MongoDB</a:t>
            </a:r>
            <a:endParaRPr lang="en-US" sz="1300" dirty="0"/>
          </a:p>
        </p:txBody>
      </p:sp>
      <p:sp>
        <p:nvSpPr>
          <p:cNvPr id="12" name="stat-3"/>
          <p:cNvSpPr/>
          <p:nvPr/>
        </p:nvSpPr>
        <p:spPr>
          <a:xfrm>
            <a:off x="5504688" y="1234440"/>
            <a:ext cx="1499616" cy="16002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tat-num-3"/>
          <p:cNvSpPr txBox="1"/>
          <p:nvPr/>
        </p:nvSpPr>
        <p:spPr>
          <a:xfrm>
            <a:off x="5596128" y="141732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25</a:t>
            </a:r>
            <a:endParaRPr lang="en-US" sz="2800" dirty="0"/>
          </a:p>
        </p:txBody>
      </p:sp>
      <p:sp>
        <p:nvSpPr>
          <p:cNvPr id="14" name="stat-lbl-3"/>
          <p:cNvSpPr txBox="1"/>
          <p:nvPr/>
        </p:nvSpPr>
        <p:spPr>
          <a:xfrm>
            <a:off x="5596128" y="21031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verificaciones correctas</a:t>
            </a:r>
            <a:endParaRPr lang="en-US" sz="1300" dirty="0"/>
          </a:p>
        </p:txBody>
      </p:sp>
      <p:sp>
        <p:nvSpPr>
          <p:cNvPr id="15" name="stat-4"/>
          <p:cNvSpPr/>
          <p:nvPr/>
        </p:nvSpPr>
        <p:spPr>
          <a:xfrm>
            <a:off x="7187184" y="1234440"/>
            <a:ext cx="1499616" cy="160020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at-num-4"/>
          <p:cNvSpPr txBox="1"/>
          <p:nvPr/>
        </p:nvSpPr>
        <p:spPr>
          <a:xfrm>
            <a:off x="7278624" y="141732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7" name="stat-lbl-4"/>
          <p:cNvSpPr txBox="1"/>
          <p:nvPr/>
        </p:nvSpPr>
        <p:spPr>
          <a:xfrm>
            <a:off x="7278624" y="21031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consultas de negocio</a:t>
            </a:r>
            <a:endParaRPr lang="en-US" sz="1300" dirty="0"/>
          </a:p>
        </p:txBody>
      </p:sp>
      <p:sp>
        <p:nvSpPr>
          <p:cNvPr id="18" name="flujo-0"/>
          <p:cNvSpPr txBox="1"/>
          <p:nvPr/>
        </p:nvSpPr>
        <p:spPr>
          <a:xfrm>
            <a:off x="457200" y="3291840"/>
            <a:ext cx="1591056" cy="548640"/>
          </a:xfrm>
          <a:prstGeom prst="chevron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SQL Server</a:t>
            </a:r>
            <a:endParaRPr lang="en-US" sz="1300" dirty="0"/>
          </a:p>
        </p:txBody>
      </p:sp>
      <p:sp>
        <p:nvSpPr>
          <p:cNvPr id="19" name="flujo-1"/>
          <p:cNvSpPr txBox="1"/>
          <p:nvPr/>
        </p:nvSpPr>
        <p:spPr>
          <a:xfrm>
            <a:off x="2139696" y="3291840"/>
            <a:ext cx="1591056" cy="548640"/>
          </a:xfrm>
          <a:prstGeom prst="chevron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Python (ETL)</a:t>
            </a:r>
            <a:endParaRPr lang="en-US" sz="1300" dirty="0"/>
          </a:p>
        </p:txBody>
      </p:sp>
      <p:sp>
        <p:nvSpPr>
          <p:cNvPr id="20" name="flujo-2"/>
          <p:cNvSpPr txBox="1"/>
          <p:nvPr/>
        </p:nvSpPr>
        <p:spPr>
          <a:xfrm>
            <a:off x="3822192" y="3291840"/>
            <a:ext cx="1591056" cy="548640"/>
          </a:xfrm>
          <a:prstGeom prst="chevron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MongoDB</a:t>
            </a:r>
            <a:endParaRPr lang="en-US" sz="1300" dirty="0"/>
          </a:p>
        </p:txBody>
      </p:sp>
      <p:sp>
        <p:nvSpPr>
          <p:cNvPr id="21" name="flujo-3"/>
          <p:cNvSpPr txBox="1"/>
          <p:nvPr/>
        </p:nvSpPr>
        <p:spPr>
          <a:xfrm>
            <a:off x="5504688" y="3291840"/>
            <a:ext cx="1591056" cy="548640"/>
          </a:xfrm>
          <a:prstGeom prst="chevron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Verificación</a:t>
            </a:r>
            <a:endParaRPr lang="en-US" sz="1300" dirty="0"/>
          </a:p>
        </p:txBody>
      </p:sp>
      <p:sp>
        <p:nvSpPr>
          <p:cNvPr id="22" name="flujo-4"/>
          <p:cNvSpPr txBox="1"/>
          <p:nvPr/>
        </p:nvSpPr>
        <p:spPr>
          <a:xfrm>
            <a:off x="7187184" y="3291840"/>
            <a:ext cx="1591056" cy="548640"/>
          </a:xfrm>
          <a:prstGeom prst="chevron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Consultas</a:t>
            </a:r>
            <a:endParaRPr lang="en-US" sz="1300" dirty="0"/>
          </a:p>
        </p:txBody>
      </p:sp>
      <p:sp>
        <p:nvSpPr>
          <p:cNvPr id="23" name="flujo-nota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Cada etapa deja evidencia en el repositorio: scripts, capturas y documentación.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 Modelo relacional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SQL Server 2025 · 10 entidades · 14.595 registros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C7C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10 tablas en tres niveles</a:t>
            </a:r>
            <a:endParaRPr lang="en-US" sz="2800" dirty="0"/>
          </a:p>
        </p:txBody>
      </p:sp>
      <p:sp>
        <p:nvSpPr>
          <p:cNvPr id="3" name="nivel-0"/>
          <p:cNvSpPr/>
          <p:nvPr/>
        </p:nvSpPr>
        <p:spPr>
          <a:xfrm>
            <a:off x="457200" y="114300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ivel-t-0"/>
          <p:cNvSpPr txBox="1"/>
          <p:nvPr/>
        </p:nvSpPr>
        <p:spPr>
          <a:xfrm>
            <a:off x="640080" y="12618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Catálogos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pocos registros</a:t>
            </a:r>
            <a:endParaRPr lang="en-US" sz="1800" dirty="0"/>
          </a:p>
        </p:txBody>
      </p:sp>
      <p:sp>
        <p:nvSpPr>
          <p:cNvPr id="5" name="nivel-f-0-0"/>
          <p:cNvSpPr txBox="1"/>
          <p:nvPr/>
        </p:nvSpPr>
        <p:spPr>
          <a:xfrm>
            <a:off x="64008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Categoria</a:t>
            </a:r>
            <a:endParaRPr lang="en-US" sz="1400" dirty="0"/>
          </a:p>
        </p:txBody>
      </p:sp>
      <p:sp>
        <p:nvSpPr>
          <p:cNvPr id="6" name="nivel-v-0-0"/>
          <p:cNvSpPr txBox="1"/>
          <p:nvPr/>
        </p:nvSpPr>
        <p:spPr>
          <a:xfrm>
            <a:off x="205740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</a:t>
            </a:r>
            <a:endParaRPr lang="en-US" sz="1400" dirty="0"/>
          </a:p>
        </p:txBody>
      </p:sp>
      <p:sp>
        <p:nvSpPr>
          <p:cNvPr id="7" name="nivel-f-0-1"/>
          <p:cNvSpPr txBox="1"/>
          <p:nvPr/>
        </p:nvSpPr>
        <p:spPr>
          <a:xfrm>
            <a:off x="64008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Proveedor</a:t>
            </a:r>
            <a:endParaRPr lang="en-US" sz="1400" dirty="0"/>
          </a:p>
        </p:txBody>
      </p:sp>
      <p:sp>
        <p:nvSpPr>
          <p:cNvPr id="8" name="nivel-v-0-1"/>
          <p:cNvSpPr txBox="1"/>
          <p:nvPr/>
        </p:nvSpPr>
        <p:spPr>
          <a:xfrm>
            <a:off x="2057400" y="2176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15</a:t>
            </a:r>
            <a:endParaRPr lang="en-US" sz="1400" dirty="0"/>
          </a:p>
        </p:txBody>
      </p:sp>
      <p:sp>
        <p:nvSpPr>
          <p:cNvPr id="9" name="nivel-1"/>
          <p:cNvSpPr/>
          <p:nvPr/>
        </p:nvSpPr>
        <p:spPr>
          <a:xfrm>
            <a:off x="3246120" y="114300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nivel-t-1"/>
          <p:cNvSpPr txBox="1"/>
          <p:nvPr/>
        </p:nvSpPr>
        <p:spPr>
          <a:xfrm>
            <a:off x="3429000" y="12618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Maestros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cientos</a:t>
            </a:r>
            <a:endParaRPr lang="en-US" sz="1800" dirty="0"/>
          </a:p>
        </p:txBody>
      </p:sp>
      <p:sp>
        <p:nvSpPr>
          <p:cNvPr id="11" name="nivel-f-1-0"/>
          <p:cNvSpPr txBox="1"/>
          <p:nvPr/>
        </p:nvSpPr>
        <p:spPr>
          <a:xfrm>
            <a:off x="342900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Producto</a:t>
            </a:r>
            <a:endParaRPr lang="en-US" sz="1400" dirty="0"/>
          </a:p>
        </p:txBody>
      </p:sp>
      <p:sp>
        <p:nvSpPr>
          <p:cNvPr id="12" name="nivel-v-1-0"/>
          <p:cNvSpPr txBox="1"/>
          <p:nvPr/>
        </p:nvSpPr>
        <p:spPr>
          <a:xfrm>
            <a:off x="484632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300</a:t>
            </a:r>
            <a:endParaRPr lang="en-US" sz="1400" dirty="0"/>
          </a:p>
        </p:txBody>
      </p:sp>
      <p:sp>
        <p:nvSpPr>
          <p:cNvPr id="13" name="nivel-f-1-1"/>
          <p:cNvSpPr txBox="1"/>
          <p:nvPr/>
        </p:nvSpPr>
        <p:spPr>
          <a:xfrm>
            <a:off x="342900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Cliente</a:t>
            </a:r>
            <a:endParaRPr lang="en-US" sz="1400" dirty="0"/>
          </a:p>
        </p:txBody>
      </p:sp>
      <p:sp>
        <p:nvSpPr>
          <p:cNvPr id="14" name="nivel-v-1-1"/>
          <p:cNvSpPr txBox="1"/>
          <p:nvPr/>
        </p:nvSpPr>
        <p:spPr>
          <a:xfrm>
            <a:off x="4846320" y="2176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800</a:t>
            </a:r>
            <a:endParaRPr lang="en-US" sz="1400" dirty="0"/>
          </a:p>
        </p:txBody>
      </p:sp>
      <p:sp>
        <p:nvSpPr>
          <p:cNvPr id="15" name="nivel-f-1-2"/>
          <p:cNvSpPr txBox="1"/>
          <p:nvPr/>
        </p:nvSpPr>
        <p:spPr>
          <a:xfrm>
            <a:off x="342900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Direccion</a:t>
            </a:r>
            <a:endParaRPr lang="en-US" sz="1400" dirty="0"/>
          </a:p>
        </p:txBody>
      </p:sp>
      <p:sp>
        <p:nvSpPr>
          <p:cNvPr id="16" name="nivel-v-1-2"/>
          <p:cNvSpPr txBox="1"/>
          <p:nvPr/>
        </p:nvSpPr>
        <p:spPr>
          <a:xfrm>
            <a:off x="4846320" y="24780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1.000</a:t>
            </a:r>
            <a:endParaRPr lang="en-US" sz="1400" dirty="0"/>
          </a:p>
        </p:txBody>
      </p:sp>
      <p:sp>
        <p:nvSpPr>
          <p:cNvPr id="17" name="nivel-2"/>
          <p:cNvSpPr/>
          <p:nvPr/>
        </p:nvSpPr>
        <p:spPr>
          <a:xfrm>
            <a:off x="6035040" y="114300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nivel-t-2"/>
          <p:cNvSpPr txBox="1"/>
          <p:nvPr/>
        </p:nvSpPr>
        <p:spPr>
          <a:xfrm>
            <a:off x="6217920" y="12618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Transacciones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miles</a:t>
            </a:r>
            <a:endParaRPr lang="en-US" sz="1800" dirty="0"/>
          </a:p>
        </p:txBody>
      </p:sp>
      <p:sp>
        <p:nvSpPr>
          <p:cNvPr id="19" name="nivel-f-2-0"/>
          <p:cNvSpPr txBox="1"/>
          <p:nvPr/>
        </p:nvSpPr>
        <p:spPr>
          <a:xfrm>
            <a:off x="621792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Pedido</a:t>
            </a:r>
            <a:endParaRPr lang="en-US" sz="1400" dirty="0"/>
          </a:p>
        </p:txBody>
      </p:sp>
      <p:sp>
        <p:nvSpPr>
          <p:cNvPr id="20" name="nivel-v-2-0"/>
          <p:cNvSpPr txBox="1"/>
          <p:nvPr/>
        </p:nvSpPr>
        <p:spPr>
          <a:xfrm>
            <a:off x="763524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2.000</a:t>
            </a:r>
            <a:endParaRPr lang="en-US" sz="1400" dirty="0"/>
          </a:p>
        </p:txBody>
      </p:sp>
      <p:sp>
        <p:nvSpPr>
          <p:cNvPr id="21" name="nivel-f-2-1"/>
          <p:cNvSpPr txBox="1"/>
          <p:nvPr/>
        </p:nvSpPr>
        <p:spPr>
          <a:xfrm>
            <a:off x="6217920" y="2176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DetallePedido</a:t>
            </a:r>
            <a:endParaRPr lang="en-US" sz="1400" dirty="0"/>
          </a:p>
        </p:txBody>
      </p:sp>
      <p:sp>
        <p:nvSpPr>
          <p:cNvPr id="22" name="nivel-v-2-1"/>
          <p:cNvSpPr txBox="1"/>
          <p:nvPr/>
        </p:nvSpPr>
        <p:spPr>
          <a:xfrm>
            <a:off x="7635240" y="2176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5.190</a:t>
            </a:r>
            <a:endParaRPr lang="en-US" sz="1400" dirty="0"/>
          </a:p>
        </p:txBody>
      </p:sp>
      <p:sp>
        <p:nvSpPr>
          <p:cNvPr id="23" name="nivel-f-2-2"/>
          <p:cNvSpPr txBox="1"/>
          <p:nvPr/>
        </p:nvSpPr>
        <p:spPr>
          <a:xfrm>
            <a:off x="621792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Pago</a:t>
            </a:r>
            <a:endParaRPr lang="en-US" sz="1400" dirty="0"/>
          </a:p>
        </p:txBody>
      </p:sp>
      <p:sp>
        <p:nvSpPr>
          <p:cNvPr id="24" name="nivel-v-2-2"/>
          <p:cNvSpPr txBox="1"/>
          <p:nvPr/>
        </p:nvSpPr>
        <p:spPr>
          <a:xfrm>
            <a:off x="7635240" y="24780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2.184</a:t>
            </a:r>
            <a:endParaRPr lang="en-US" sz="1400" dirty="0"/>
          </a:p>
        </p:txBody>
      </p:sp>
      <p:sp>
        <p:nvSpPr>
          <p:cNvPr id="25" name="nivel-f-2-3"/>
          <p:cNvSpPr txBox="1"/>
          <p:nvPr/>
        </p:nvSpPr>
        <p:spPr>
          <a:xfrm>
            <a:off x="6217920" y="27797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Envio</a:t>
            </a:r>
            <a:endParaRPr lang="en-US" sz="1400" dirty="0"/>
          </a:p>
        </p:txBody>
      </p:sp>
      <p:sp>
        <p:nvSpPr>
          <p:cNvPr id="26" name="nivel-v-2-3"/>
          <p:cNvSpPr txBox="1"/>
          <p:nvPr/>
        </p:nvSpPr>
        <p:spPr>
          <a:xfrm>
            <a:off x="7635240" y="27797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1.896</a:t>
            </a:r>
            <a:endParaRPr lang="en-US" sz="1400" dirty="0"/>
          </a:p>
        </p:txBody>
      </p:sp>
      <p:sp>
        <p:nvSpPr>
          <p:cNvPr id="27" name="nivel-f-2-4"/>
          <p:cNvSpPr txBox="1"/>
          <p:nvPr/>
        </p:nvSpPr>
        <p:spPr>
          <a:xfrm>
            <a:off x="621792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Resena</a:t>
            </a:r>
            <a:endParaRPr lang="en-US" sz="1400" dirty="0"/>
          </a:p>
        </p:txBody>
      </p:sp>
      <p:sp>
        <p:nvSpPr>
          <p:cNvPr id="28" name="nivel-v-2-4"/>
          <p:cNvSpPr txBox="1"/>
          <p:nvPr/>
        </p:nvSpPr>
        <p:spPr>
          <a:xfrm>
            <a:off x="7635240" y="3081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1.200</a:t>
            </a:r>
            <a:endParaRPr lang="en-US" sz="1400" dirty="0"/>
          </a:p>
        </p:txBody>
      </p:sp>
      <p:sp>
        <p:nvSpPr>
          <p:cNvPr id="29" name="decision-0"/>
          <p:cNvSpPr txBox="1"/>
          <p:nvPr/>
        </p:nvSpPr>
        <p:spPr>
          <a:xfrm>
            <a:off x="457200" y="3749040"/>
            <a:ext cx="1956816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precio_unitario histórico</a:t>
            </a:r>
            <a:endParaRPr lang="en-US" sz="1250" dirty="0"/>
          </a:p>
        </p:txBody>
      </p:sp>
      <p:sp>
        <p:nvSpPr>
          <p:cNvPr id="30" name="decision-1"/>
          <p:cNvSpPr txBox="1"/>
          <p:nvPr/>
        </p:nvSpPr>
        <p:spPr>
          <a:xfrm>
            <a:off x="2551176" y="3749040"/>
            <a:ext cx="1956816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PK compuesta en DetallePedido</a:t>
            </a:r>
            <a:endParaRPr lang="en-US" sz="1250" dirty="0"/>
          </a:p>
        </p:txBody>
      </p:sp>
      <p:sp>
        <p:nvSpPr>
          <p:cNvPr id="31" name="decision-2"/>
          <p:cNvSpPr txBox="1"/>
          <p:nvPr/>
        </p:nvSpPr>
        <p:spPr>
          <a:xfrm>
            <a:off x="4645152" y="3749040"/>
            <a:ext cx="1956816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FK compuesta (id_direccion, id_cliente)</a:t>
            </a:r>
            <a:endParaRPr lang="en-US" sz="1250" dirty="0"/>
          </a:p>
        </p:txBody>
      </p:sp>
      <p:sp>
        <p:nvSpPr>
          <p:cNvPr id="32" name="decision-3"/>
          <p:cNvSpPr txBox="1"/>
          <p:nvPr/>
        </p:nvSpPr>
        <p:spPr>
          <a:xfrm>
            <a:off x="6739128" y="3749040"/>
            <a:ext cx="1956816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total: desnormalización controlada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Datos de prueba coherentes y reproducibles</a:t>
            </a:r>
            <a:endParaRPr lang="en-US" sz="2800" dirty="0"/>
          </a:p>
        </p:txBody>
      </p:sp>
      <p:sp>
        <p:nvSpPr>
          <p:cNvPr id="3" name="p5-num-0"/>
          <p:cNvSpPr txBox="1"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p5-txt-0"/>
          <p:cNvSpPr txBox="1"/>
          <p:nvPr/>
        </p:nvSpPr>
        <p:spPr>
          <a:xfrm>
            <a:off x="1143000" y="120700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Azar reproducible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Función dbo.Azar con hash MD5: cualquier equipo genera exactamente los mismos datos.</a:t>
            </a:r>
            <a:endParaRPr lang="en-US" sz="1600" dirty="0"/>
          </a:p>
        </p:txBody>
      </p:sp>
      <p:sp>
        <p:nvSpPr>
          <p:cNvPr id="5" name="p5-num-1"/>
          <p:cNvSpPr txBox="1"/>
          <p:nvPr/>
        </p:nvSpPr>
        <p:spPr>
          <a:xfrm>
            <a:off x="457200" y="2258568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p5-txt-1"/>
          <p:cNvSpPr txBox="1"/>
          <p:nvPr/>
        </p:nvSpPr>
        <p:spPr>
          <a:xfrm>
            <a:off x="1143000" y="223113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Inserción en bloque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GENERATE_SERIES + un INSERT ... SELECT por tabla, sin bucles fila por fila.</a:t>
            </a:r>
            <a:endParaRPr lang="en-US" sz="1600" dirty="0"/>
          </a:p>
        </p:txBody>
      </p:sp>
      <p:sp>
        <p:nvSpPr>
          <p:cNvPr id="7" name="p5-num-2"/>
          <p:cNvSpPr txBox="1"/>
          <p:nvPr/>
        </p:nvSpPr>
        <p:spPr>
          <a:xfrm>
            <a:off x="457200" y="3282696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p5-txt-2"/>
          <p:cNvSpPr txBox="1"/>
          <p:nvPr/>
        </p:nvSpPr>
        <p:spPr>
          <a:xfrm>
            <a:off x="1143000" y="325526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Reglas verificadas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 consultas buscan violaciones de las reglas de negocio: todas devuelven 0.</a:t>
            </a:r>
            <a:endParaRPr lang="en-US" sz="1600" dirty="0"/>
          </a:p>
        </p:txBody>
      </p:sp>
      <p:pic>
        <p:nvPicPr>
          <p:cNvPr id="9" name="img-coherencia" descr="C:/proyectos/tienda-online/evidencias/F2VerificacionCoher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188720"/>
            <a:ext cx="3657600" cy="2635924"/>
          </a:xfrm>
          <a:prstGeom prst="rect">
            <a:avLst/>
          </a:prstGeom>
        </p:spPr>
      </p:pic>
      <p:sp>
        <p:nvSpPr>
          <p:cNvPr id="10" name="cap-coherencia"/>
          <p:cNvSpPr txBox="1"/>
          <p:nvPr/>
        </p:nvSpPr>
        <p:spPr>
          <a:xfrm>
            <a:off x="502920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sql/VerificarCoherencia.sql: reglas 3 a 11 con 0 violaciones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2. Modelo documental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Diseñado según cómo se leen los datos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C7C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 10 tablas a 6 colecciones</a:t>
            </a:r>
            <a:endParaRPr lang="en-US" sz="2800" dirty="0"/>
          </a:p>
        </p:txBody>
      </p:sp>
      <p:graphicFrame>
        <p:nvGraphicFramePr>
          <p:cNvPr id="8" name="tabla-mape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Tablas SQL Server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Colección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Técnica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Pedido + DetallePedido + Pago + Envio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pedidos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items[], pagos[] y envio embebidos; clienteId y productoId referenciados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Cliente + Direccion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clientes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direcciones[] embebidas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Producto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productos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Referencias categoriaId y proveedorId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Resena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resenas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Colección propia; referencias productoId y clienteId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Categoria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categorias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Catálogo referenciado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Proveedor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proveedores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Catálogo referenciado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ota-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Las 4 tablas que "desaparecen" no se pierden: viven dentro de pedidos y clientes.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¿Embeber o referenciar?</a:t>
            </a:r>
            <a:endParaRPr lang="en-US" sz="2800" dirty="0"/>
          </a:p>
        </p:txBody>
      </p:sp>
      <p:sp>
        <p:nvSpPr>
          <p:cNvPr id="3" name="col8-0"/>
          <p:cNvSpPr/>
          <p:nvPr/>
        </p:nvSpPr>
        <p:spPr>
          <a:xfrm>
            <a:off x="457200" y="114300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ol8-t-0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Embebido</a:t>
            </a:r>
            <a:endParaRPr lang="en-US" sz="2000" dirty="0"/>
          </a:p>
        </p:txBody>
      </p:sp>
      <p:sp>
        <p:nvSpPr>
          <p:cNvPr id="5" name="col8-c-0"/>
          <p:cNvSpPr txBox="1"/>
          <p:nvPr/>
        </p:nvSpPr>
        <p:spPr>
          <a:xfrm>
            <a:off x="685800" y="17190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Se lee junto, no tiene vida propia y son pocos elementos</a:t>
            </a:r>
            <a:endParaRPr lang="en-US" sz="1300" dirty="0"/>
          </a:p>
        </p:txBody>
      </p:sp>
      <p:sp>
        <p:nvSpPr>
          <p:cNvPr id="6" name="col8-l-0"/>
          <p:cNvSpPr txBox="1"/>
          <p:nvPr/>
        </p:nvSpPr>
        <p:spPr>
          <a:xfrm>
            <a:off x="685800" y="228600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items[]: detalles del pedido (1 a 5)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pagos[]: intentos de pago (1 o 2)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envio: objeto o null (1 a 0..1)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direcciones[] del cliente (1 o 2)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direccionEnvio: copia histórica</a:t>
            </a:r>
            <a:endParaRPr lang="en-US" sz="1400" dirty="0"/>
          </a:p>
        </p:txBody>
      </p:sp>
      <p:sp>
        <p:nvSpPr>
          <p:cNvPr id="7" name="col8-1"/>
          <p:cNvSpPr/>
          <p:nvPr/>
        </p:nvSpPr>
        <p:spPr>
          <a:xfrm>
            <a:off x="4663440" y="114300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col8-t-1"/>
          <p:cNvSpPr txBox="1"/>
          <p:nvPr/>
        </p:nvSpPr>
        <p:spPr>
          <a:xfrm>
            <a:off x="48920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Referenciado</a:t>
            </a:r>
            <a:endParaRPr lang="en-US" sz="2000" dirty="0"/>
          </a:p>
        </p:txBody>
      </p:sp>
      <p:sp>
        <p:nvSpPr>
          <p:cNvPr id="9" name="col8-c-1"/>
          <p:cNvSpPr txBox="1"/>
          <p:nvPr/>
        </p:nvSpPr>
        <p:spPr>
          <a:xfrm>
            <a:off x="4892040" y="17190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Tiene vida propia, lo usan muchos o crece sin límite (16 MB)</a:t>
            </a:r>
            <a:endParaRPr lang="en-US" sz="1300" dirty="0"/>
          </a:p>
        </p:txBody>
      </p:sp>
      <p:sp>
        <p:nvSpPr>
          <p:cNvPr id="10" name="col8-l-1"/>
          <p:cNvSpPr txBox="1"/>
          <p:nvPr/>
        </p:nvSpPr>
        <p:spPr>
          <a:xfrm>
            <a:off x="4892040" y="228600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clienteId: el cliente tiene muchos pedidos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productoId (+ nombre): referencia extendida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categoriaId y proveedorId: catálogos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resenas: dos dueños y crecimiento sin límite</a:t>
            </a:r>
            <a:endParaRPr lang="en-US" sz="1400" dirty="0"/>
          </a:p>
        </p:txBody>
      </p:sp>
      <p:sp>
        <p:nvSpPr>
          <p:cNvPr id="11" name="preguntas-8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 preguntas: ¿Se lee junto?  ·  ¿Tiene vida propia?  ·  ¿Cuántos son?  ·  ¿Lo usan otros?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 pedido: cinco tablas en un documento</a:t>
            </a:r>
            <a:endParaRPr lang="en-US" sz="2800" dirty="0"/>
          </a:p>
        </p:txBody>
      </p:sp>
      <p:pic>
        <p:nvPicPr>
          <p:cNvPr id="3" name="img-pedido150" descr="pedido15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636818" cy="3429000"/>
          </a:xfrm>
          <a:prstGeom prst="rect">
            <a:avLst/>
          </a:prstGeom>
        </p:spPr>
      </p:pic>
      <p:sp>
        <p:nvSpPr>
          <p:cNvPr id="4" name="c9-num-0"/>
          <p:cNvSpPr txBox="1"/>
          <p:nvPr/>
        </p:nvSpPr>
        <p:spPr>
          <a:xfrm>
            <a:off x="4251960" y="1188720"/>
            <a:ext cx="411480" cy="4114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c9-txt-0"/>
          <p:cNvSpPr txBox="1"/>
          <p:nvPr/>
        </p:nvSpPr>
        <p:spPr>
          <a:xfrm>
            <a:off x="4800600" y="114300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clienteId: 196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Referencia al cliente (solo el id)</a:t>
            </a:r>
            <a:endParaRPr lang="en-US" sz="1500" dirty="0"/>
          </a:p>
        </p:txBody>
      </p:sp>
      <p:sp>
        <p:nvSpPr>
          <p:cNvPr id="6" name="c9-num-1"/>
          <p:cNvSpPr txBox="1"/>
          <p:nvPr/>
        </p:nvSpPr>
        <p:spPr>
          <a:xfrm>
            <a:off x="4251960" y="1865376"/>
            <a:ext cx="411480" cy="4114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c9-txt-1"/>
          <p:cNvSpPr txBox="1"/>
          <p:nvPr/>
        </p:nvSpPr>
        <p:spPr>
          <a:xfrm>
            <a:off x="4800600" y="181965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direccionEnvio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Copia histórica: a dónde se envió de verdad</a:t>
            </a:r>
            <a:endParaRPr lang="en-US" sz="1500" dirty="0"/>
          </a:p>
        </p:txBody>
      </p:sp>
      <p:sp>
        <p:nvSpPr>
          <p:cNvPr id="8" name="c9-num-2"/>
          <p:cNvSpPr txBox="1"/>
          <p:nvPr/>
        </p:nvSpPr>
        <p:spPr>
          <a:xfrm>
            <a:off x="4251960" y="2542032"/>
            <a:ext cx="411480" cy="4114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c9-txt-2"/>
          <p:cNvSpPr txBox="1"/>
          <p:nvPr/>
        </p:nvSpPr>
        <p:spPr>
          <a:xfrm>
            <a:off x="4800600" y="249631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items[ ]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DetallePedido embebido</a:t>
            </a:r>
            <a:endParaRPr lang="en-US" sz="1500" dirty="0"/>
          </a:p>
        </p:txBody>
      </p:sp>
      <p:sp>
        <p:nvSpPr>
          <p:cNvPr id="10" name="c9-num-3"/>
          <p:cNvSpPr txBox="1"/>
          <p:nvPr/>
        </p:nvSpPr>
        <p:spPr>
          <a:xfrm>
            <a:off x="4251960" y="3218688"/>
            <a:ext cx="411480" cy="4114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c9-txt-3"/>
          <p:cNvSpPr txBox="1"/>
          <p:nvPr/>
        </p:nvSpPr>
        <p:spPr>
          <a:xfrm>
            <a:off x="4800600" y="31729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productoId + nombre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Referencia extendida: sin $lookup para ver el detalle</a:t>
            </a:r>
            <a:endParaRPr lang="en-US" sz="1500" dirty="0"/>
          </a:p>
        </p:txBody>
      </p:sp>
      <p:sp>
        <p:nvSpPr>
          <p:cNvPr id="12" name="c9-num-4"/>
          <p:cNvSpPr txBox="1"/>
          <p:nvPr/>
        </p:nvSpPr>
        <p:spPr>
          <a:xfrm>
            <a:off x="4251960" y="3895344"/>
            <a:ext cx="411480" cy="4114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c9-txt-4"/>
          <p:cNvSpPr txBox="1"/>
          <p:nvPr/>
        </p:nvSpPr>
        <p:spPr>
          <a:xfrm>
            <a:off x="4800600" y="38496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Decimal128 · ISODate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Dinero exacto y fechas nativas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3. Migración y verificación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Python: pyodbc + pymongo · 25 comprobaciones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C7C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Migración ETL con Python</a:t>
            </a:r>
            <a:endParaRPr lang="en-US" sz="2800" dirty="0"/>
          </a:p>
        </p:txBody>
      </p:sp>
      <p:sp>
        <p:nvSpPr>
          <p:cNvPr id="3" name="etl-0"/>
          <p:cNvSpPr/>
          <p:nvPr/>
        </p:nvSpPr>
        <p:spPr>
          <a:xfrm>
            <a:off x="457200" y="1143000"/>
            <a:ext cx="246888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etl-num-0"/>
          <p:cNvSpPr txBox="1"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etl-t-0"/>
          <p:cNvSpPr txBox="1"/>
          <p:nvPr/>
        </p:nvSpPr>
        <p:spPr>
          <a:xfrm>
            <a:off x="1234440" y="12618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Extraer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pyodbc</a:t>
            </a:r>
            <a:endParaRPr lang="en-US" sz="1800" dirty="0"/>
          </a:p>
        </p:txBody>
      </p:sp>
      <p:sp>
        <p:nvSpPr>
          <p:cNvPr id="6" name="etl-l-0"/>
          <p:cNvSpPr txBox="1"/>
          <p:nvPr/>
        </p:nvSpPr>
        <p:spPr>
          <a:xfrm>
            <a:off x="640080" y="196596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Un SELECT por tabla (10 en total)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Cada tabla se lee una sola vez</a:t>
            </a:r>
            <a:endParaRPr lang="en-US" sz="1350" dirty="0"/>
          </a:p>
        </p:txBody>
      </p:sp>
      <p:sp>
        <p:nvSpPr>
          <p:cNvPr id="7" name="etl-flecha-0"/>
          <p:cNvSpPr/>
          <p:nvPr/>
        </p:nvSpPr>
        <p:spPr>
          <a:xfrm>
            <a:off x="2971800" y="2194560"/>
            <a:ext cx="274320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etl-1"/>
          <p:cNvSpPr/>
          <p:nvPr/>
        </p:nvSpPr>
        <p:spPr>
          <a:xfrm>
            <a:off x="3291840" y="1143000"/>
            <a:ext cx="246888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etl-num-1"/>
          <p:cNvSpPr txBox="1"/>
          <p:nvPr/>
        </p:nvSpPr>
        <p:spPr>
          <a:xfrm>
            <a:off x="3474720" y="12801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etl-t-1"/>
          <p:cNvSpPr txBox="1"/>
          <p:nvPr/>
        </p:nvSpPr>
        <p:spPr>
          <a:xfrm>
            <a:off x="4069080" y="12618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Transformar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Python</a:t>
            </a:r>
            <a:endParaRPr lang="en-US" sz="1800" dirty="0"/>
          </a:p>
        </p:txBody>
      </p:sp>
      <p:sp>
        <p:nvSpPr>
          <p:cNvPr id="11" name="etl-l-1"/>
          <p:cNvSpPr txBox="1"/>
          <p:nvPr/>
        </p:nvSpPr>
        <p:spPr>
          <a:xfrm>
            <a:off x="3474720" y="196596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Agrupar hijos en memoria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Embeber, referenciar, camelCase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Decimal y date → Decimal128 / ISODate</a:t>
            </a:r>
            <a:endParaRPr lang="en-US" sz="1350" dirty="0"/>
          </a:p>
        </p:txBody>
      </p:sp>
      <p:sp>
        <p:nvSpPr>
          <p:cNvPr id="12" name="etl-flecha-1"/>
          <p:cNvSpPr/>
          <p:nvPr/>
        </p:nvSpPr>
        <p:spPr>
          <a:xfrm>
            <a:off x="5806440" y="2194560"/>
            <a:ext cx="274320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etl-2"/>
          <p:cNvSpPr/>
          <p:nvPr/>
        </p:nvSpPr>
        <p:spPr>
          <a:xfrm>
            <a:off x="6126480" y="1143000"/>
            <a:ext cx="246888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etl-num-2"/>
          <p:cNvSpPr txBox="1"/>
          <p:nvPr/>
        </p:nvSpPr>
        <p:spPr>
          <a:xfrm>
            <a:off x="6309360" y="12801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etl-t-2"/>
          <p:cNvSpPr txBox="1"/>
          <p:nvPr/>
        </p:nvSpPr>
        <p:spPr>
          <a:xfrm>
            <a:off x="6903720" y="12618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Cargar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pymongo</a:t>
            </a:r>
            <a:endParaRPr lang="en-US" sz="1800" dirty="0"/>
          </a:p>
        </p:txBody>
      </p:sp>
      <p:sp>
        <p:nvSpPr>
          <p:cNvPr id="16" name="etl-l-2"/>
          <p:cNvSpPr txBox="1"/>
          <p:nvPr/>
        </p:nvSpPr>
        <p:spPr>
          <a:xfrm>
            <a:off x="6309360" y="196596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drop() + insert_many(): repetible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Índices en campos de referencia</a:t>
            </a:r>
            <a:endParaRPr lang="en-US" sz="1350" dirty="0"/>
          </a:p>
        </p:txBody>
      </p:sp>
      <p:sp>
        <p:nvSpPr>
          <p:cNvPr id="17" name="etl-res"/>
          <p:cNvSpPr txBox="1"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14.595 filas → 4.325 documentos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·   sin problema N+1   ·   configuración en .env, fuera de Git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Verificación en 5 capas</a:t>
            </a:r>
            <a:endParaRPr lang="en-US" sz="2800" dirty="0"/>
          </a:p>
        </p:txBody>
      </p:sp>
      <p:sp>
        <p:nvSpPr>
          <p:cNvPr id="3" name="verif-stat"/>
          <p:cNvSpPr/>
          <p:nvPr/>
        </p:nvSpPr>
        <p:spPr>
          <a:xfrm>
            <a:off x="457200" y="1188720"/>
            <a:ext cx="2377440" cy="301752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verif-num"/>
          <p:cNvSpPr txBox="1"/>
          <p:nvPr/>
        </p:nvSpPr>
        <p:spPr>
          <a:xfrm>
            <a:off x="54864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25</a:t>
            </a:r>
            <a:endParaRPr lang="en-US" sz="4000" dirty="0"/>
          </a:p>
        </p:txBody>
      </p:sp>
      <p:sp>
        <p:nvSpPr>
          <p:cNvPr id="5" name="verif-lbl"/>
          <p:cNvSpPr txBox="1"/>
          <p:nvPr/>
        </p:nvSpPr>
        <p:spPr>
          <a:xfrm>
            <a:off x="5486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verificaciones correctas</a:t>
            </a:r>
            <a:endParaRPr lang="en-US" sz="1500" dirty="0"/>
          </a:p>
        </p:txBody>
      </p:sp>
      <p:sp>
        <p:nvSpPr>
          <p:cNvPr id="6" name="capa-0"/>
          <p:cNvSpPr/>
          <p:nvPr/>
        </p:nvSpPr>
        <p:spPr>
          <a:xfrm>
            <a:off x="3108960" y="1188720"/>
            <a:ext cx="55778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capa-c-0"/>
          <p:cNvSpPr txBox="1"/>
          <p:nvPr/>
        </p:nvSpPr>
        <p:spPr>
          <a:xfrm>
            <a:off x="3291840" y="11887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Conteos</a:t>
            </a:r>
            <a:endParaRPr lang="en-US" sz="1500" dirty="0"/>
          </a:p>
        </p:txBody>
      </p:sp>
      <p:sp>
        <p:nvSpPr>
          <p:cNvPr id="8" name="capa-r-0"/>
          <p:cNvSpPr txBox="1"/>
          <p:nvPr/>
        </p:nvSpPr>
        <p:spPr>
          <a:xfrm>
            <a:off x="4709160" y="118872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10/10</a:t>
            </a:r>
            <a:endParaRPr lang="en-US" sz="1500" dirty="0"/>
          </a:p>
        </p:txBody>
      </p:sp>
      <p:sp>
        <p:nvSpPr>
          <p:cNvPr id="9" name="capa-d-0"/>
          <p:cNvSpPr txBox="1"/>
          <p:nvPr/>
        </p:nvSpPr>
        <p:spPr>
          <a:xfrm>
            <a:off x="5440680" y="118872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5.190 detalles = elementos de items[]</a:t>
            </a:r>
            <a:endParaRPr lang="en-US" sz="1300" dirty="0"/>
          </a:p>
        </p:txBody>
      </p:sp>
      <p:sp>
        <p:nvSpPr>
          <p:cNvPr id="10" name="capa-1"/>
          <p:cNvSpPr/>
          <p:nvPr/>
        </p:nvSpPr>
        <p:spPr>
          <a:xfrm>
            <a:off x="3108960" y="1810512"/>
            <a:ext cx="55778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capa-c-1"/>
          <p:cNvSpPr txBox="1"/>
          <p:nvPr/>
        </p:nvSpPr>
        <p:spPr>
          <a:xfrm>
            <a:off x="3291840" y="1810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Referencias</a:t>
            </a:r>
            <a:endParaRPr lang="en-US" sz="1500" dirty="0"/>
          </a:p>
        </p:txBody>
      </p:sp>
      <p:sp>
        <p:nvSpPr>
          <p:cNvPr id="12" name="capa-r-1"/>
          <p:cNvSpPr txBox="1"/>
          <p:nvPr/>
        </p:nvSpPr>
        <p:spPr>
          <a:xfrm>
            <a:off x="4709160" y="181051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6/6</a:t>
            </a:r>
            <a:endParaRPr lang="en-US" sz="1500" dirty="0"/>
          </a:p>
        </p:txBody>
      </p:sp>
      <p:sp>
        <p:nvSpPr>
          <p:cNvPr id="13" name="capa-d-1"/>
          <p:cNvSpPr txBox="1"/>
          <p:nvPr/>
        </p:nvSpPr>
        <p:spPr>
          <a:xfrm>
            <a:off x="5440680" y="181051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 referencias rotas ($lookup)</a:t>
            </a:r>
            <a:endParaRPr lang="en-US" sz="1300" dirty="0"/>
          </a:p>
        </p:txBody>
      </p:sp>
      <p:sp>
        <p:nvSpPr>
          <p:cNvPr id="14" name="capa-2"/>
          <p:cNvSpPr/>
          <p:nvPr/>
        </p:nvSpPr>
        <p:spPr>
          <a:xfrm>
            <a:off x="3108960" y="2432304"/>
            <a:ext cx="55778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apa-c-2"/>
          <p:cNvSpPr txBox="1"/>
          <p:nvPr/>
        </p:nvSpPr>
        <p:spPr>
          <a:xfrm>
            <a:off x="3291840" y="243230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Estructuras</a:t>
            </a:r>
            <a:endParaRPr lang="en-US" sz="1500" dirty="0"/>
          </a:p>
        </p:txBody>
      </p:sp>
      <p:sp>
        <p:nvSpPr>
          <p:cNvPr id="16" name="capa-r-2"/>
          <p:cNvSpPr txBox="1"/>
          <p:nvPr/>
        </p:nvSpPr>
        <p:spPr>
          <a:xfrm>
            <a:off x="4709160" y="243230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5/5</a:t>
            </a:r>
            <a:endParaRPr lang="en-US" sz="1500" dirty="0"/>
          </a:p>
        </p:txBody>
      </p:sp>
      <p:sp>
        <p:nvSpPr>
          <p:cNvPr id="17" name="capa-d-2"/>
          <p:cNvSpPr txBox="1"/>
          <p:nvPr/>
        </p:nvSpPr>
        <p:spPr>
          <a:xfrm>
            <a:off x="5440680" y="243230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Mismos items y pagos en cada pedido</a:t>
            </a:r>
            <a:endParaRPr lang="en-US" sz="1300" dirty="0"/>
          </a:p>
        </p:txBody>
      </p:sp>
      <p:sp>
        <p:nvSpPr>
          <p:cNvPr id="18" name="capa-3"/>
          <p:cNvSpPr/>
          <p:nvPr/>
        </p:nvSpPr>
        <p:spPr>
          <a:xfrm>
            <a:off x="3108960" y="3054096"/>
            <a:ext cx="55778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capa-c-3"/>
          <p:cNvSpPr txBox="1"/>
          <p:nvPr/>
        </p:nvSpPr>
        <p:spPr>
          <a:xfrm>
            <a:off x="3291840" y="305409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Contenido</a:t>
            </a:r>
            <a:endParaRPr lang="en-US" sz="1500" dirty="0"/>
          </a:p>
        </p:txBody>
      </p:sp>
      <p:sp>
        <p:nvSpPr>
          <p:cNvPr id="20" name="capa-r-3"/>
          <p:cNvSpPr txBox="1"/>
          <p:nvPr/>
        </p:nvSpPr>
        <p:spPr>
          <a:xfrm>
            <a:off x="4709160" y="3054096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3/3</a:t>
            </a:r>
            <a:endParaRPr lang="en-US" sz="1500" dirty="0"/>
          </a:p>
        </p:txBody>
      </p:sp>
      <p:sp>
        <p:nvSpPr>
          <p:cNvPr id="21" name="capa-d-3"/>
          <p:cNvSpPr txBox="1"/>
          <p:nvPr/>
        </p:nvSpPr>
        <p:spPr>
          <a:xfrm>
            <a:off x="5440680" y="305409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$2.212.003.800 en SQL y en MongoDB</a:t>
            </a:r>
            <a:endParaRPr lang="en-US" sz="1300" dirty="0"/>
          </a:p>
        </p:txBody>
      </p:sp>
      <p:sp>
        <p:nvSpPr>
          <p:cNvPr id="22" name="capa-4"/>
          <p:cNvSpPr/>
          <p:nvPr/>
        </p:nvSpPr>
        <p:spPr>
          <a:xfrm>
            <a:off x="3108960" y="3675888"/>
            <a:ext cx="55778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capa-c-4"/>
          <p:cNvSpPr txBox="1"/>
          <p:nvPr/>
        </p:nvSpPr>
        <p:spPr>
          <a:xfrm>
            <a:off x="3291840" y="367588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Puntuales</a:t>
            </a:r>
            <a:endParaRPr lang="en-US" sz="1500" dirty="0"/>
          </a:p>
        </p:txBody>
      </p:sp>
      <p:sp>
        <p:nvSpPr>
          <p:cNvPr id="24" name="capa-r-4"/>
          <p:cNvSpPr txBox="1"/>
          <p:nvPr/>
        </p:nvSpPr>
        <p:spPr>
          <a:xfrm>
            <a:off x="4709160" y="3675888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1/1</a:t>
            </a:r>
            <a:endParaRPr lang="en-US" sz="1500" dirty="0"/>
          </a:p>
        </p:txBody>
      </p:sp>
      <p:sp>
        <p:nvSpPr>
          <p:cNvPr id="25" name="capa-d-4"/>
          <p:cNvSpPr txBox="1"/>
          <p:nvPr/>
        </p:nvSpPr>
        <p:spPr>
          <a:xfrm>
            <a:off x="5440680" y="367588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22 pedidos comparados campo a campo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Prueba negativa: la verificación sí detecta errores</a:t>
            </a:r>
            <a:endParaRPr lang="en-US" sz="2800" dirty="0"/>
          </a:p>
        </p:txBody>
      </p:sp>
      <p:sp>
        <p:nvSpPr>
          <p:cNvPr id="3" name="neg-0"/>
          <p:cNvSpPr/>
          <p:nvPr/>
        </p:nvSpPr>
        <p:spPr>
          <a:xfrm>
            <a:off x="457200" y="114300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eg-t-0"/>
          <p:cNvSpPr txBox="1"/>
          <p:nvPr/>
        </p:nvSpPr>
        <p:spPr>
          <a:xfrm>
            <a:off x="640080" y="1261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Dañar</a:t>
            </a:r>
            <a:endParaRPr lang="en-US" sz="2600" dirty="0"/>
          </a:p>
        </p:txBody>
      </p:sp>
      <p:sp>
        <p:nvSpPr>
          <p:cNvPr id="5" name="neg-d-0"/>
          <p:cNvSpPr txBox="1"/>
          <p:nvPr/>
        </p:nvSpPr>
        <p:spPr>
          <a:xfrm>
            <a:off x="64008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Quitar un item del pedido 150 con $pop</a:t>
            </a:r>
            <a:endParaRPr lang="en-US" sz="1350" dirty="0"/>
          </a:p>
        </p:txBody>
      </p:sp>
      <p:sp>
        <p:nvSpPr>
          <p:cNvPr id="6" name="neg-flecha-0"/>
          <p:cNvSpPr/>
          <p:nvPr/>
        </p:nvSpPr>
        <p:spPr>
          <a:xfrm>
            <a:off x="2971800" y="1645920"/>
            <a:ext cx="274320" cy="32004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neg-1"/>
          <p:cNvSpPr/>
          <p:nvPr/>
        </p:nvSpPr>
        <p:spPr>
          <a:xfrm>
            <a:off x="3291840" y="114300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neg-t-1"/>
          <p:cNvSpPr txBox="1"/>
          <p:nvPr/>
        </p:nvSpPr>
        <p:spPr>
          <a:xfrm>
            <a:off x="3474720" y="1261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25</a:t>
            </a:r>
            <a:endParaRPr lang="en-US" sz="2600" dirty="0"/>
          </a:p>
        </p:txBody>
      </p:sp>
      <p:sp>
        <p:nvSpPr>
          <p:cNvPr id="9" name="neg-d-1"/>
          <p:cNvSpPr txBox="1"/>
          <p:nvPr/>
        </p:nvSpPr>
        <p:spPr>
          <a:xfrm>
            <a:off x="347472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Cuatro capas detectan el error</a:t>
            </a:r>
            <a:endParaRPr lang="en-US" sz="1350" dirty="0"/>
          </a:p>
        </p:txBody>
      </p:sp>
      <p:sp>
        <p:nvSpPr>
          <p:cNvPr id="10" name="neg-flecha-1"/>
          <p:cNvSpPr/>
          <p:nvPr/>
        </p:nvSpPr>
        <p:spPr>
          <a:xfrm>
            <a:off x="5806440" y="1645920"/>
            <a:ext cx="274320" cy="32004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neg-2"/>
          <p:cNvSpPr/>
          <p:nvPr/>
        </p:nvSpPr>
        <p:spPr>
          <a:xfrm>
            <a:off x="6126480" y="1143000"/>
            <a:ext cx="24688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neg-t-2"/>
          <p:cNvSpPr txBox="1"/>
          <p:nvPr/>
        </p:nvSpPr>
        <p:spPr>
          <a:xfrm>
            <a:off x="6309360" y="1261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Remigrar</a:t>
            </a:r>
            <a:endParaRPr lang="en-US" sz="2600" dirty="0"/>
          </a:p>
        </p:txBody>
      </p:sp>
      <p:sp>
        <p:nvSpPr>
          <p:cNvPr id="13" name="neg-d-2"/>
          <p:cNvSpPr txBox="1"/>
          <p:nvPr/>
        </p:nvSpPr>
        <p:spPr>
          <a:xfrm>
            <a:off x="630936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Vuelve a 25/25 tras remigrar</a:t>
            </a:r>
            <a:endParaRPr lang="en-US" sz="1350" dirty="0"/>
          </a:p>
        </p:txBody>
      </p:sp>
      <p:pic>
        <p:nvPicPr>
          <p:cNvPr id="14" name="img-negativa" descr="C:/proyectos/tienda-online/evidencias/F5PruebaNegativaFal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97480"/>
            <a:ext cx="7498080" cy="1749045"/>
          </a:xfrm>
          <a:prstGeom prst="rect">
            <a:avLst/>
          </a:prstGeom>
        </p:spPr>
      </p:pic>
      <p:sp>
        <p:nvSpPr>
          <p:cNvPr id="15" name="cap-neg"/>
          <p:cNvSpPr txBox="1"/>
          <p:nvPr/>
        </p:nvSpPr>
        <p:spPr>
          <a:xfrm>
            <a:off x="822960" y="4473957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Salida de Verificar.py con el pedido 150 dañado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4. Consultas de negocio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Aggregation Pipeline: 7 preguntas, 7 decisiones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C7C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7 consultas, 7 decisiones</a:t>
            </a:r>
            <a:endParaRPr lang="en-US" sz="2800" dirty="0"/>
          </a:p>
        </p:txBody>
      </p:sp>
      <p:graphicFrame>
        <p:nvGraphicFramePr>
          <p:cNvPr id="16" name="tabla-consul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514600"/>
                <a:gridCol w="2240280"/>
                <a:gridCol w="30632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Decisión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Etapas clave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Productos más vendidos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Reposición de inventario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$unwind, $group, 2 × $lookup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Ventas y % por categoría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Presupuesto de marketing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2 × $group, 2 × $lookup, $setWindowFields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Ventas mes a mes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Planear temporadas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$group por $dateToString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Mejores clientes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Fidelización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$lookup, $filter sobre array embebido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Proveedores peor calificados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Renegociar o cambiar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2 × $lookup, $cond, $match como HAVING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Transportadora más rápida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Contrato y SLA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$dateDiff sobre envío embebido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7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Rechazos por método de pago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Revisar pasarela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</a:rPr>
                        <a:t>$unwind de pagos, $cond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Tecnología trae el 40 % de los ingresos</a:t>
            </a:r>
            <a:endParaRPr lang="en-US" sz="2800" dirty="0"/>
          </a:p>
        </p:txBody>
      </p:sp>
      <p:graphicFrame>
        <p:nvGraphicFramePr>
          <p:cNvPr id="3" name="grafico-categorias" descr=""/>
          <p:cNvGraphicFramePr/>
          <p:nvPr/>
        </p:nvGraphicFramePr>
        <p:xfrm>
          <a:off x="457200" y="109728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16-0"/>
          <p:cNvSpPr/>
          <p:nvPr/>
        </p:nvSpPr>
        <p:spPr>
          <a:xfrm>
            <a:off x="5669280" y="1188720"/>
            <a:ext cx="3017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ns16-t-0"/>
          <p:cNvSpPr txBox="1"/>
          <p:nvPr/>
        </p:nvSpPr>
        <p:spPr>
          <a:xfrm>
            <a:off x="5806440" y="1280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Pocos productos caros pesan más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689 unidades de Tecnología frente a 831 de Hogar</a:t>
            </a:r>
            <a:endParaRPr lang="en-US" sz="1450" dirty="0"/>
          </a:p>
        </p:txBody>
      </p:sp>
      <p:sp>
        <p:nvSpPr>
          <p:cNvPr id="6" name="ins16-1"/>
          <p:cNvSpPr/>
          <p:nvPr/>
        </p:nvSpPr>
        <p:spPr>
          <a:xfrm>
            <a:off x="5669280" y="2267712"/>
            <a:ext cx="3017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ins16-t-1"/>
          <p:cNvSpPr txBox="1"/>
          <p:nvPr/>
        </p:nvSpPr>
        <p:spPr>
          <a:xfrm>
            <a:off x="5806440" y="23591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Riesgo de dependencia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Impulsar Deportes y Hogar para diversificar</a:t>
            </a:r>
            <a:endParaRPr lang="en-US" sz="1450" dirty="0"/>
          </a:p>
        </p:txBody>
      </p:sp>
      <p:sp>
        <p:nvSpPr>
          <p:cNvPr id="8" name="ins16-2"/>
          <p:cNvSpPr/>
          <p:nvPr/>
        </p:nvSpPr>
        <p:spPr>
          <a:xfrm>
            <a:off x="5669280" y="3346704"/>
            <a:ext cx="3017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ns16-t-2"/>
          <p:cNvSpPr txBox="1"/>
          <p:nvPr/>
        </p:nvSpPr>
        <p:spPr>
          <a:xfrm>
            <a:off x="5806440" y="343814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Cómo se calculó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Doble $group, doble $lookup y $setWindowFields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Hallazgos que llevan a decisiones</a:t>
            </a:r>
            <a:endParaRPr lang="en-US" sz="2800" dirty="0"/>
          </a:p>
        </p:txBody>
      </p:sp>
      <p:sp>
        <p:nvSpPr>
          <p:cNvPr id="3" name="hall-0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hall-t-0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Proveedores · C5</a:t>
            </a:r>
            <a:endParaRPr lang="en-US" sz="1600" dirty="0"/>
          </a:p>
        </p:txBody>
      </p:sp>
      <p:sp>
        <p:nvSpPr>
          <p:cNvPr id="5" name="hall-d-0"/>
          <p:cNvSpPr txBox="1"/>
          <p:nvPr/>
        </p:nvSpPr>
        <p:spPr>
          <a:xfrm>
            <a:off x="685800" y="16916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Deportes Extremos: 1,79 ★ y 73 % de reseñas negativas. Abastece la 2.ª categoría en ingresos → renegociar primero.</a:t>
            </a:r>
            <a:endParaRPr lang="en-US" sz="1350" dirty="0"/>
          </a:p>
        </p:txBody>
      </p:sp>
      <p:sp>
        <p:nvSpPr>
          <p:cNvPr id="6" name="hall-1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hall-t-1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Clientes · C4</a:t>
            </a:r>
            <a:endParaRPr lang="en-US" sz="1600" dirty="0"/>
          </a:p>
        </p:txBody>
      </p:sp>
      <p:sp>
        <p:nvSpPr>
          <p:cNvPr id="8" name="hall-d-1"/>
          <p:cNvSpPr txBox="1"/>
          <p:nvPr/>
        </p:nvSpPr>
        <p:spPr>
          <a:xfrm>
            <a:off x="4892040" y="16916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Comprar mucho no es gastar mucho. Lucía, 3.ª mejor clienta, no compra desde dic-2025 → reactivarla.</a:t>
            </a:r>
            <a:endParaRPr lang="en-US" sz="1350" dirty="0"/>
          </a:p>
        </p:txBody>
      </p:sp>
      <p:sp>
        <p:nvSpPr>
          <p:cNvPr id="9" name="hall-2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hall-t-2"/>
          <p:cNvSpPr txBox="1"/>
          <p:nvPr/>
        </p:nvSpPr>
        <p:spPr>
          <a:xfrm>
            <a:off x="68580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Logística · C6</a:t>
            </a:r>
            <a:endParaRPr lang="en-US" sz="1600" dirty="0"/>
          </a:p>
        </p:txBody>
      </p:sp>
      <p:sp>
        <p:nvSpPr>
          <p:cNvPr id="11" name="hall-d-2"/>
          <p:cNvSpPr txBox="1"/>
          <p:nvPr/>
        </p:nvSpPr>
        <p:spPr>
          <a:xfrm>
            <a:off x="685800" y="3383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Transportadoras empatadas (~3,4 días). La tienda tarda 2 días en despachar → mejora interna.</a:t>
            </a:r>
            <a:endParaRPr lang="en-US" sz="1350" dirty="0"/>
          </a:p>
        </p:txBody>
      </p:sp>
      <p:sp>
        <p:nvSpPr>
          <p:cNvPr id="12" name="hall-3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hall-t-3"/>
          <p:cNvSpPr txBox="1"/>
          <p:nvPr/>
        </p:nvSpPr>
        <p:spPr>
          <a:xfrm>
            <a:off x="48920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Pagos · C7</a:t>
            </a:r>
            <a:endParaRPr lang="en-US" sz="1600" dirty="0"/>
          </a:p>
        </p:txBody>
      </p:sp>
      <p:sp>
        <p:nvSpPr>
          <p:cNvPr id="14" name="hall-d-3"/>
          <p:cNvSpPr txBox="1"/>
          <p:nvPr/>
        </p:nvSpPr>
        <p:spPr>
          <a:xfrm>
            <a:off x="4892040" y="3383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Nequi rechaza el 15,4 %, una diferencia en el límite estadístico → monitorear antes de actuar.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Conclusiones</a:t>
            </a:r>
            <a:endParaRPr lang="en-US" sz="3200" dirty="0"/>
          </a:p>
        </p:txBody>
      </p:sp>
      <p:sp>
        <p:nvSpPr>
          <p:cNvPr id="3" name="concl-num-0"/>
          <p:cNvSpPr txBox="1"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concl-txt-0"/>
          <p:cNvSpPr txBox="1"/>
          <p:nvPr/>
        </p:nvSpPr>
        <p:spPr>
          <a:xfrm>
            <a:off x="1188720" y="121615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El modelo documental se diseña según cómo se leen los datos: 10 tablas → 6 colecciones.</a:t>
            </a:r>
            <a:endParaRPr lang="en-US" sz="1600" dirty="0"/>
          </a:p>
        </p:txBody>
      </p:sp>
      <p:sp>
        <p:nvSpPr>
          <p:cNvPr id="5" name="concl-num-1"/>
          <p:cNvSpPr txBox="1"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concl-txt-1"/>
          <p:cNvSpPr txBox="1"/>
          <p:nvPr/>
        </p:nvSpPr>
        <p:spPr>
          <a:xfrm>
            <a:off x="1188720" y="194767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 embebe lo que pertenece al pedido o al cliente; se referencia lo que tiene vida propia o se comparte.</a:t>
            </a:r>
            <a:endParaRPr lang="en-US" sz="1600" dirty="0"/>
          </a:p>
        </p:txBody>
      </p:sp>
      <p:sp>
        <p:nvSpPr>
          <p:cNvPr id="7" name="concl-num-2"/>
          <p:cNvSpPr txBox="1"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concl-txt-2"/>
          <p:cNvSpPr txBox="1"/>
          <p:nvPr/>
        </p:nvSpPr>
        <p:spPr>
          <a:xfrm>
            <a:off x="1188720" y="267919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migración se demostró con 25 verificaciones y una prueba negativa.</a:t>
            </a:r>
            <a:endParaRPr lang="en-US" sz="1600" dirty="0"/>
          </a:p>
        </p:txBody>
      </p:sp>
      <p:sp>
        <p:nvSpPr>
          <p:cNvPr id="9" name="concl-num-3"/>
          <p:cNvSpPr txBox="1"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concl-txt-3"/>
          <p:cNvSpPr txBox="1"/>
          <p:nvPr/>
        </p:nvSpPr>
        <p:spPr>
          <a:xfrm>
            <a:off x="1188720" y="341071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Las consultas convierten datos en decisiones de inventario, proveedores, clientes, logística y pagos.</a:t>
            </a:r>
            <a:endParaRPr lang="en-US" sz="1600" dirty="0"/>
          </a:p>
        </p:txBody>
      </p:sp>
      <p:sp>
        <p:nvSpPr>
          <p:cNvPr id="11" name="gracias"/>
          <p:cNvSpPr txBox="1"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· ¿Preguntas?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C7C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enda Migracion">
  <a:themeElements>
    <a:clrScheme name="Tienda Migracion">
      <a:dk1>
        <a:srgbClr val="1B2A33"/>
      </a:dk1>
      <a:lt1>
        <a:srgbClr val="FFFFFF"/>
      </a:lt1>
      <a:dk2>
        <a:srgbClr val="0B3B3C"/>
      </a:dk2>
      <a:lt2>
        <a:srgbClr val="EAF3F1"/>
      </a:lt2>
      <a:accent1>
        <a:srgbClr val="0F766E"/>
      </a:accent1>
      <a:accent2>
        <a:srgbClr val="D97706"/>
      </a:accent2>
      <a:accent3>
        <a:srgbClr val="13AA52"/>
      </a:accent3>
      <a:accent4>
        <a:srgbClr val="B91C1C"/>
      </a:accent4>
      <a:accent5>
        <a:srgbClr val="64748B"/>
      </a:accent5>
      <a:accent6>
        <a:srgbClr val="0369A1"/>
      </a:accent6>
      <a:hlink>
        <a:srgbClr val="0F766E"/>
      </a:hlink>
      <a:folHlink>
        <a:srgbClr val="64748B"/>
      </a:folHlink>
    </a:clrScheme>
    <a:fontScheme name="Tienda Migrac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Migración SQL Server a MongoDB - Tienda en línea</dc:title>
  <dc:subject>PptxGenJS Presentation</dc:subject>
  <dc:creator>Juan Camilo y Marshall Robinson</dc:creator>
  <cp:lastModifiedBy>Juan Camilo y Marshall Robinson</cp:lastModifiedBy>
  <cp:revision>1</cp:revision>
  <dcterms:created xsi:type="dcterms:W3CDTF">2026-10-23T04:15:06Z</dcterms:created>
  <dcterms:modified xsi:type="dcterms:W3CDTF">2026-10-23T04:15:06Z</dcterms:modified>
</cp:coreProperties>
</file>